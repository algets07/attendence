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70" r:id="rId11"/>
    <p:sldId id="271" r:id="rId12"/>
    <p:sldId id="27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9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43932-F8C3-408E-862A-8A2BD795402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377CDFF-DBAA-4412-85CE-F67DB8E262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0232979-1F83-49FD-9878-AE22F3284CE0}"/>
              </a:ext>
            </a:extLst>
          </p:cNvPr>
          <p:cNvSpPr>
            <a:spLocks noGrp="1"/>
          </p:cNvSpPr>
          <p:nvPr>
            <p:ph type="dt" sz="half" idx="10"/>
          </p:nvPr>
        </p:nvSpPr>
        <p:spPr/>
        <p:txBody>
          <a:bodyPr/>
          <a:lstStyle/>
          <a:p>
            <a:fld id="{70F89623-A436-464F-8727-256EEF7BE3D9}" type="datetimeFigureOut">
              <a:rPr lang="en-US" smtClean="0"/>
              <a:t>1/23/2026</a:t>
            </a:fld>
            <a:endParaRPr lang="en-US"/>
          </a:p>
        </p:txBody>
      </p:sp>
      <p:sp>
        <p:nvSpPr>
          <p:cNvPr id="5" name="Footer Placeholder 4">
            <a:extLst>
              <a:ext uri="{FF2B5EF4-FFF2-40B4-BE49-F238E27FC236}">
                <a16:creationId xmlns:a16="http://schemas.microsoft.com/office/drawing/2014/main" id="{51265B6F-02FE-4FDD-9EC7-7A62169E73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A67093-2507-4DAA-95EC-E32FDBF2AEEB}"/>
              </a:ext>
            </a:extLst>
          </p:cNvPr>
          <p:cNvSpPr>
            <a:spLocks noGrp="1"/>
          </p:cNvSpPr>
          <p:nvPr>
            <p:ph type="sldNum" sz="quarter" idx="12"/>
          </p:nvPr>
        </p:nvSpPr>
        <p:spPr/>
        <p:txBody>
          <a:bodyPr/>
          <a:lstStyle/>
          <a:p>
            <a:fld id="{47FF2479-6EF9-4BD3-9342-7DC0DF46B19E}" type="slidenum">
              <a:rPr lang="en-US" smtClean="0"/>
              <a:t>‹#›</a:t>
            </a:fld>
            <a:endParaRPr lang="en-US"/>
          </a:p>
        </p:txBody>
      </p:sp>
    </p:spTree>
    <p:extLst>
      <p:ext uri="{BB962C8B-B14F-4D97-AF65-F5344CB8AC3E}">
        <p14:creationId xmlns:p14="http://schemas.microsoft.com/office/powerpoint/2010/main" val="1417763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62BEA-748C-4D5B-B6B2-71AC224A75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326EB7-132C-4561-AE45-A31DC6F98A2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1734DE-726B-4AF5-8948-E7D24E8A4A20}"/>
              </a:ext>
            </a:extLst>
          </p:cNvPr>
          <p:cNvSpPr>
            <a:spLocks noGrp="1"/>
          </p:cNvSpPr>
          <p:nvPr>
            <p:ph type="dt" sz="half" idx="10"/>
          </p:nvPr>
        </p:nvSpPr>
        <p:spPr/>
        <p:txBody>
          <a:bodyPr/>
          <a:lstStyle/>
          <a:p>
            <a:fld id="{70F89623-A436-464F-8727-256EEF7BE3D9}" type="datetimeFigureOut">
              <a:rPr lang="en-US" smtClean="0"/>
              <a:t>1/23/2026</a:t>
            </a:fld>
            <a:endParaRPr lang="en-US"/>
          </a:p>
        </p:txBody>
      </p:sp>
      <p:sp>
        <p:nvSpPr>
          <p:cNvPr id="5" name="Footer Placeholder 4">
            <a:extLst>
              <a:ext uri="{FF2B5EF4-FFF2-40B4-BE49-F238E27FC236}">
                <a16:creationId xmlns:a16="http://schemas.microsoft.com/office/drawing/2014/main" id="{B234F2A9-9A1E-487D-869F-90AC585EF0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E6666C-E023-4F42-A2BB-225133C822B1}"/>
              </a:ext>
            </a:extLst>
          </p:cNvPr>
          <p:cNvSpPr>
            <a:spLocks noGrp="1"/>
          </p:cNvSpPr>
          <p:nvPr>
            <p:ph type="sldNum" sz="quarter" idx="12"/>
          </p:nvPr>
        </p:nvSpPr>
        <p:spPr/>
        <p:txBody>
          <a:bodyPr/>
          <a:lstStyle/>
          <a:p>
            <a:fld id="{47FF2479-6EF9-4BD3-9342-7DC0DF46B19E}" type="slidenum">
              <a:rPr lang="en-US" smtClean="0"/>
              <a:t>‹#›</a:t>
            </a:fld>
            <a:endParaRPr lang="en-US"/>
          </a:p>
        </p:txBody>
      </p:sp>
    </p:spTree>
    <p:extLst>
      <p:ext uri="{BB962C8B-B14F-4D97-AF65-F5344CB8AC3E}">
        <p14:creationId xmlns:p14="http://schemas.microsoft.com/office/powerpoint/2010/main" val="3228416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E6922-231A-49F6-9E8A-6650DC0C1BB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CAEC3F0-4048-4A08-8E4D-CC5FED109AB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49690B-F014-4CBD-A67D-D861EF1D40BC}"/>
              </a:ext>
            </a:extLst>
          </p:cNvPr>
          <p:cNvSpPr>
            <a:spLocks noGrp="1"/>
          </p:cNvSpPr>
          <p:nvPr>
            <p:ph type="dt" sz="half" idx="10"/>
          </p:nvPr>
        </p:nvSpPr>
        <p:spPr/>
        <p:txBody>
          <a:bodyPr/>
          <a:lstStyle/>
          <a:p>
            <a:fld id="{70F89623-A436-464F-8727-256EEF7BE3D9}" type="datetimeFigureOut">
              <a:rPr lang="en-US" smtClean="0"/>
              <a:t>1/23/2026</a:t>
            </a:fld>
            <a:endParaRPr lang="en-US"/>
          </a:p>
        </p:txBody>
      </p:sp>
      <p:sp>
        <p:nvSpPr>
          <p:cNvPr id="5" name="Footer Placeholder 4">
            <a:extLst>
              <a:ext uri="{FF2B5EF4-FFF2-40B4-BE49-F238E27FC236}">
                <a16:creationId xmlns:a16="http://schemas.microsoft.com/office/drawing/2014/main" id="{10C5AFBA-26B8-4F1A-A957-B62146FB48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358E53-DBE7-4385-94BB-39AC214F656F}"/>
              </a:ext>
            </a:extLst>
          </p:cNvPr>
          <p:cNvSpPr>
            <a:spLocks noGrp="1"/>
          </p:cNvSpPr>
          <p:nvPr>
            <p:ph type="sldNum" sz="quarter" idx="12"/>
          </p:nvPr>
        </p:nvSpPr>
        <p:spPr/>
        <p:txBody>
          <a:bodyPr/>
          <a:lstStyle/>
          <a:p>
            <a:fld id="{47FF2479-6EF9-4BD3-9342-7DC0DF46B19E}" type="slidenum">
              <a:rPr lang="en-US" smtClean="0"/>
              <a:t>‹#›</a:t>
            </a:fld>
            <a:endParaRPr lang="en-US"/>
          </a:p>
        </p:txBody>
      </p:sp>
    </p:spTree>
    <p:extLst>
      <p:ext uri="{BB962C8B-B14F-4D97-AF65-F5344CB8AC3E}">
        <p14:creationId xmlns:p14="http://schemas.microsoft.com/office/powerpoint/2010/main" val="1941093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9698B-E540-4D07-AEDD-C5700B46144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1CAEA74-FC83-407C-892A-C0424CD655F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B4591F-D7E1-41E0-909C-B1A8DD23A3B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8B17B97-A77E-433B-84F9-F7D775732E15}"/>
              </a:ext>
            </a:extLst>
          </p:cNvPr>
          <p:cNvSpPr>
            <a:spLocks noGrp="1"/>
          </p:cNvSpPr>
          <p:nvPr>
            <p:ph type="dt" sz="half" idx="10"/>
          </p:nvPr>
        </p:nvSpPr>
        <p:spPr/>
        <p:txBody>
          <a:bodyPr/>
          <a:lstStyle/>
          <a:p>
            <a:fld id="{70F89623-A436-464F-8727-256EEF7BE3D9}" type="datetimeFigureOut">
              <a:rPr lang="en-US" smtClean="0"/>
              <a:t>1/23/2026</a:t>
            </a:fld>
            <a:endParaRPr lang="en-US"/>
          </a:p>
        </p:txBody>
      </p:sp>
      <p:sp>
        <p:nvSpPr>
          <p:cNvPr id="6" name="Footer Placeholder 5">
            <a:extLst>
              <a:ext uri="{FF2B5EF4-FFF2-40B4-BE49-F238E27FC236}">
                <a16:creationId xmlns:a16="http://schemas.microsoft.com/office/drawing/2014/main" id="{4045D064-3536-4A72-8BC0-197C659AC6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668658-D798-410B-93B1-81E4D4CBA76B}"/>
              </a:ext>
            </a:extLst>
          </p:cNvPr>
          <p:cNvSpPr>
            <a:spLocks noGrp="1"/>
          </p:cNvSpPr>
          <p:nvPr>
            <p:ph type="sldNum" sz="quarter" idx="12"/>
          </p:nvPr>
        </p:nvSpPr>
        <p:spPr/>
        <p:txBody>
          <a:bodyPr/>
          <a:lstStyle/>
          <a:p>
            <a:fld id="{47FF2479-6EF9-4BD3-9342-7DC0DF46B19E}" type="slidenum">
              <a:rPr lang="en-US" smtClean="0"/>
              <a:t>‹#›</a:t>
            </a:fld>
            <a:endParaRPr lang="en-US"/>
          </a:p>
        </p:txBody>
      </p:sp>
    </p:spTree>
    <p:extLst>
      <p:ext uri="{BB962C8B-B14F-4D97-AF65-F5344CB8AC3E}">
        <p14:creationId xmlns:p14="http://schemas.microsoft.com/office/powerpoint/2010/main" val="37769378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A3A64-7E4E-46B8-A589-9189AACC452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C1266DF-1982-4603-A404-2E626976BB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0AF303C-6074-4D6F-882D-49E1BAF1BF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C3D4E64-E696-4CCB-910A-CB8857CFC3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A707A9-C6C4-4C45-92E8-2BF0253351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1B31124-7C61-43A7-8653-91AB0FACC83A}"/>
              </a:ext>
            </a:extLst>
          </p:cNvPr>
          <p:cNvSpPr>
            <a:spLocks noGrp="1"/>
          </p:cNvSpPr>
          <p:nvPr>
            <p:ph type="dt" sz="half" idx="10"/>
          </p:nvPr>
        </p:nvSpPr>
        <p:spPr/>
        <p:txBody>
          <a:bodyPr/>
          <a:lstStyle/>
          <a:p>
            <a:fld id="{70F89623-A436-464F-8727-256EEF7BE3D9}" type="datetimeFigureOut">
              <a:rPr lang="en-US" smtClean="0"/>
              <a:t>1/23/2026</a:t>
            </a:fld>
            <a:endParaRPr lang="en-US"/>
          </a:p>
        </p:txBody>
      </p:sp>
      <p:sp>
        <p:nvSpPr>
          <p:cNvPr id="8" name="Footer Placeholder 7">
            <a:extLst>
              <a:ext uri="{FF2B5EF4-FFF2-40B4-BE49-F238E27FC236}">
                <a16:creationId xmlns:a16="http://schemas.microsoft.com/office/drawing/2014/main" id="{13BF8888-B0B8-4088-8115-97DA9C010B4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9873939-1F49-413B-9BE7-98CF17AA9E7F}"/>
              </a:ext>
            </a:extLst>
          </p:cNvPr>
          <p:cNvSpPr>
            <a:spLocks noGrp="1"/>
          </p:cNvSpPr>
          <p:nvPr>
            <p:ph type="sldNum" sz="quarter" idx="12"/>
          </p:nvPr>
        </p:nvSpPr>
        <p:spPr/>
        <p:txBody>
          <a:bodyPr/>
          <a:lstStyle/>
          <a:p>
            <a:fld id="{47FF2479-6EF9-4BD3-9342-7DC0DF46B19E}" type="slidenum">
              <a:rPr lang="en-US" smtClean="0"/>
              <a:t>‹#›</a:t>
            </a:fld>
            <a:endParaRPr lang="en-US"/>
          </a:p>
        </p:txBody>
      </p:sp>
    </p:spTree>
    <p:extLst>
      <p:ext uri="{BB962C8B-B14F-4D97-AF65-F5344CB8AC3E}">
        <p14:creationId xmlns:p14="http://schemas.microsoft.com/office/powerpoint/2010/main" val="31046777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75179-A394-4B8A-8728-D9DF88B823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834967C-0F83-4B0E-A3A6-174D31C217AA}"/>
              </a:ext>
            </a:extLst>
          </p:cNvPr>
          <p:cNvSpPr>
            <a:spLocks noGrp="1"/>
          </p:cNvSpPr>
          <p:nvPr>
            <p:ph type="dt" sz="half" idx="10"/>
          </p:nvPr>
        </p:nvSpPr>
        <p:spPr/>
        <p:txBody>
          <a:bodyPr/>
          <a:lstStyle/>
          <a:p>
            <a:fld id="{70F89623-A436-464F-8727-256EEF7BE3D9}" type="datetimeFigureOut">
              <a:rPr lang="en-US" smtClean="0"/>
              <a:t>1/23/2026</a:t>
            </a:fld>
            <a:endParaRPr lang="en-US"/>
          </a:p>
        </p:txBody>
      </p:sp>
      <p:sp>
        <p:nvSpPr>
          <p:cNvPr id="4" name="Footer Placeholder 3">
            <a:extLst>
              <a:ext uri="{FF2B5EF4-FFF2-40B4-BE49-F238E27FC236}">
                <a16:creationId xmlns:a16="http://schemas.microsoft.com/office/drawing/2014/main" id="{DDE44C8D-D0A2-48BC-A4E2-5ADC9D04A93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96BB612-995E-4C17-8DA7-422AD8C8AA02}"/>
              </a:ext>
            </a:extLst>
          </p:cNvPr>
          <p:cNvSpPr>
            <a:spLocks noGrp="1"/>
          </p:cNvSpPr>
          <p:nvPr>
            <p:ph type="sldNum" sz="quarter" idx="12"/>
          </p:nvPr>
        </p:nvSpPr>
        <p:spPr/>
        <p:txBody>
          <a:bodyPr/>
          <a:lstStyle/>
          <a:p>
            <a:fld id="{47FF2479-6EF9-4BD3-9342-7DC0DF46B19E}" type="slidenum">
              <a:rPr lang="en-US" smtClean="0"/>
              <a:t>‹#›</a:t>
            </a:fld>
            <a:endParaRPr lang="en-US"/>
          </a:p>
        </p:txBody>
      </p:sp>
    </p:spTree>
    <p:extLst>
      <p:ext uri="{BB962C8B-B14F-4D97-AF65-F5344CB8AC3E}">
        <p14:creationId xmlns:p14="http://schemas.microsoft.com/office/powerpoint/2010/main" val="3033586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88F7C3-3B05-4A80-B632-B0C4C4F3AA40}"/>
              </a:ext>
            </a:extLst>
          </p:cNvPr>
          <p:cNvSpPr>
            <a:spLocks noGrp="1"/>
          </p:cNvSpPr>
          <p:nvPr>
            <p:ph type="dt" sz="half" idx="10"/>
          </p:nvPr>
        </p:nvSpPr>
        <p:spPr/>
        <p:txBody>
          <a:bodyPr/>
          <a:lstStyle/>
          <a:p>
            <a:fld id="{70F89623-A436-464F-8727-256EEF7BE3D9}" type="datetimeFigureOut">
              <a:rPr lang="en-US" smtClean="0"/>
              <a:t>1/23/2026</a:t>
            </a:fld>
            <a:endParaRPr lang="en-US"/>
          </a:p>
        </p:txBody>
      </p:sp>
      <p:sp>
        <p:nvSpPr>
          <p:cNvPr id="3" name="Footer Placeholder 2">
            <a:extLst>
              <a:ext uri="{FF2B5EF4-FFF2-40B4-BE49-F238E27FC236}">
                <a16:creationId xmlns:a16="http://schemas.microsoft.com/office/drawing/2014/main" id="{E1B10F2C-C44E-4413-9839-E41C120687C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C21B342-74CF-493F-B0D6-0E11B0DD6E7E}"/>
              </a:ext>
            </a:extLst>
          </p:cNvPr>
          <p:cNvSpPr>
            <a:spLocks noGrp="1"/>
          </p:cNvSpPr>
          <p:nvPr>
            <p:ph type="sldNum" sz="quarter" idx="12"/>
          </p:nvPr>
        </p:nvSpPr>
        <p:spPr/>
        <p:txBody>
          <a:bodyPr/>
          <a:lstStyle/>
          <a:p>
            <a:fld id="{47FF2479-6EF9-4BD3-9342-7DC0DF46B19E}" type="slidenum">
              <a:rPr lang="en-US" smtClean="0"/>
              <a:t>‹#›</a:t>
            </a:fld>
            <a:endParaRPr lang="en-US"/>
          </a:p>
        </p:txBody>
      </p:sp>
    </p:spTree>
    <p:extLst>
      <p:ext uri="{BB962C8B-B14F-4D97-AF65-F5344CB8AC3E}">
        <p14:creationId xmlns:p14="http://schemas.microsoft.com/office/powerpoint/2010/main" val="12820037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DADFA-1A51-40FB-89F9-68C90713F0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EDD97BF-21F1-4CC3-AFA5-443C4D2A07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EAD8C62-2181-496B-B115-773AAD39F0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361C6A-7D72-47C1-B4F6-C2A7EC616AE8}"/>
              </a:ext>
            </a:extLst>
          </p:cNvPr>
          <p:cNvSpPr>
            <a:spLocks noGrp="1"/>
          </p:cNvSpPr>
          <p:nvPr>
            <p:ph type="dt" sz="half" idx="10"/>
          </p:nvPr>
        </p:nvSpPr>
        <p:spPr/>
        <p:txBody>
          <a:bodyPr/>
          <a:lstStyle/>
          <a:p>
            <a:fld id="{70F89623-A436-464F-8727-256EEF7BE3D9}" type="datetimeFigureOut">
              <a:rPr lang="en-US" smtClean="0"/>
              <a:t>1/23/2026</a:t>
            </a:fld>
            <a:endParaRPr lang="en-US"/>
          </a:p>
        </p:txBody>
      </p:sp>
      <p:sp>
        <p:nvSpPr>
          <p:cNvPr id="6" name="Footer Placeholder 5">
            <a:extLst>
              <a:ext uri="{FF2B5EF4-FFF2-40B4-BE49-F238E27FC236}">
                <a16:creationId xmlns:a16="http://schemas.microsoft.com/office/drawing/2014/main" id="{CA2D58BA-CC93-4ABE-BF64-DABDF131FF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9CAD8E-C132-4EA3-8909-AA120B18678B}"/>
              </a:ext>
            </a:extLst>
          </p:cNvPr>
          <p:cNvSpPr>
            <a:spLocks noGrp="1"/>
          </p:cNvSpPr>
          <p:nvPr>
            <p:ph type="sldNum" sz="quarter" idx="12"/>
          </p:nvPr>
        </p:nvSpPr>
        <p:spPr/>
        <p:txBody>
          <a:bodyPr/>
          <a:lstStyle/>
          <a:p>
            <a:fld id="{47FF2479-6EF9-4BD3-9342-7DC0DF46B19E}" type="slidenum">
              <a:rPr lang="en-US" smtClean="0"/>
              <a:t>‹#›</a:t>
            </a:fld>
            <a:endParaRPr lang="en-US"/>
          </a:p>
        </p:txBody>
      </p:sp>
    </p:spTree>
    <p:extLst>
      <p:ext uri="{BB962C8B-B14F-4D97-AF65-F5344CB8AC3E}">
        <p14:creationId xmlns:p14="http://schemas.microsoft.com/office/powerpoint/2010/main" val="76893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942A0-7BCC-4249-8842-5753BAFDF2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46B1B6-A326-4BDB-AB2C-58B0869A7B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48A9E9F-2D7B-4935-8204-7CA20AC762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6DAF30-0BC1-4576-9AF2-B8E52E9AC848}"/>
              </a:ext>
            </a:extLst>
          </p:cNvPr>
          <p:cNvSpPr>
            <a:spLocks noGrp="1"/>
          </p:cNvSpPr>
          <p:nvPr>
            <p:ph type="dt" sz="half" idx="10"/>
          </p:nvPr>
        </p:nvSpPr>
        <p:spPr/>
        <p:txBody>
          <a:bodyPr/>
          <a:lstStyle/>
          <a:p>
            <a:fld id="{70F89623-A436-464F-8727-256EEF7BE3D9}" type="datetimeFigureOut">
              <a:rPr lang="en-US" smtClean="0"/>
              <a:t>1/23/2026</a:t>
            </a:fld>
            <a:endParaRPr lang="en-US"/>
          </a:p>
        </p:txBody>
      </p:sp>
      <p:sp>
        <p:nvSpPr>
          <p:cNvPr id="6" name="Footer Placeholder 5">
            <a:extLst>
              <a:ext uri="{FF2B5EF4-FFF2-40B4-BE49-F238E27FC236}">
                <a16:creationId xmlns:a16="http://schemas.microsoft.com/office/drawing/2014/main" id="{F13E77AB-DA66-49C8-BCEE-0AC7E845CA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3CBC40-F0C4-491B-A35E-4A83CAF4B14C}"/>
              </a:ext>
            </a:extLst>
          </p:cNvPr>
          <p:cNvSpPr>
            <a:spLocks noGrp="1"/>
          </p:cNvSpPr>
          <p:nvPr>
            <p:ph type="sldNum" sz="quarter" idx="12"/>
          </p:nvPr>
        </p:nvSpPr>
        <p:spPr/>
        <p:txBody>
          <a:bodyPr/>
          <a:lstStyle/>
          <a:p>
            <a:fld id="{47FF2479-6EF9-4BD3-9342-7DC0DF46B19E}" type="slidenum">
              <a:rPr lang="en-US" smtClean="0"/>
              <a:t>‹#›</a:t>
            </a:fld>
            <a:endParaRPr lang="en-US"/>
          </a:p>
        </p:txBody>
      </p:sp>
    </p:spTree>
    <p:extLst>
      <p:ext uri="{BB962C8B-B14F-4D97-AF65-F5344CB8AC3E}">
        <p14:creationId xmlns:p14="http://schemas.microsoft.com/office/powerpoint/2010/main" val="2119363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C693E-4D19-4A15-8AD8-51FA0653729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2C22FD7-7912-433E-A31D-C86AAD3D1E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5361CE-7442-4AE4-9081-F546B063AB81}"/>
              </a:ext>
            </a:extLst>
          </p:cNvPr>
          <p:cNvSpPr>
            <a:spLocks noGrp="1"/>
          </p:cNvSpPr>
          <p:nvPr>
            <p:ph type="dt" sz="half" idx="10"/>
          </p:nvPr>
        </p:nvSpPr>
        <p:spPr/>
        <p:txBody>
          <a:bodyPr/>
          <a:lstStyle/>
          <a:p>
            <a:fld id="{70F89623-A436-464F-8727-256EEF7BE3D9}" type="datetimeFigureOut">
              <a:rPr lang="en-US" smtClean="0"/>
              <a:t>1/23/2026</a:t>
            </a:fld>
            <a:endParaRPr lang="en-US"/>
          </a:p>
        </p:txBody>
      </p:sp>
      <p:sp>
        <p:nvSpPr>
          <p:cNvPr id="5" name="Footer Placeholder 4">
            <a:extLst>
              <a:ext uri="{FF2B5EF4-FFF2-40B4-BE49-F238E27FC236}">
                <a16:creationId xmlns:a16="http://schemas.microsoft.com/office/drawing/2014/main" id="{BDABC10F-FEBB-4E2B-A428-AF2AD9272B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F7582F-8197-4D4C-9076-DC2D64DF846A}"/>
              </a:ext>
            </a:extLst>
          </p:cNvPr>
          <p:cNvSpPr>
            <a:spLocks noGrp="1"/>
          </p:cNvSpPr>
          <p:nvPr>
            <p:ph type="sldNum" sz="quarter" idx="12"/>
          </p:nvPr>
        </p:nvSpPr>
        <p:spPr/>
        <p:txBody>
          <a:bodyPr/>
          <a:lstStyle/>
          <a:p>
            <a:fld id="{47FF2479-6EF9-4BD3-9342-7DC0DF46B19E}" type="slidenum">
              <a:rPr lang="en-US" smtClean="0"/>
              <a:t>‹#›</a:t>
            </a:fld>
            <a:endParaRPr lang="en-US"/>
          </a:p>
        </p:txBody>
      </p:sp>
    </p:spTree>
    <p:extLst>
      <p:ext uri="{BB962C8B-B14F-4D97-AF65-F5344CB8AC3E}">
        <p14:creationId xmlns:p14="http://schemas.microsoft.com/office/powerpoint/2010/main" val="3835533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E59CF6-29FA-41D8-9972-477E4E64BEF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90A38D4-CC15-4A02-8A83-1CDC27BA0C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4E676F-19F0-4E6A-BF55-11F40B7590CE}"/>
              </a:ext>
            </a:extLst>
          </p:cNvPr>
          <p:cNvSpPr>
            <a:spLocks noGrp="1"/>
          </p:cNvSpPr>
          <p:nvPr>
            <p:ph type="dt" sz="half" idx="10"/>
          </p:nvPr>
        </p:nvSpPr>
        <p:spPr/>
        <p:txBody>
          <a:bodyPr/>
          <a:lstStyle/>
          <a:p>
            <a:fld id="{70F89623-A436-464F-8727-256EEF7BE3D9}" type="datetimeFigureOut">
              <a:rPr lang="en-US" smtClean="0"/>
              <a:t>1/23/2026</a:t>
            </a:fld>
            <a:endParaRPr lang="en-US"/>
          </a:p>
        </p:txBody>
      </p:sp>
      <p:sp>
        <p:nvSpPr>
          <p:cNvPr id="5" name="Footer Placeholder 4">
            <a:extLst>
              <a:ext uri="{FF2B5EF4-FFF2-40B4-BE49-F238E27FC236}">
                <a16:creationId xmlns:a16="http://schemas.microsoft.com/office/drawing/2014/main" id="{46C1E51F-BB8E-4734-8D4F-82B8674C15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522361-8DB3-4FBD-88CC-137F334AB892}"/>
              </a:ext>
            </a:extLst>
          </p:cNvPr>
          <p:cNvSpPr>
            <a:spLocks noGrp="1"/>
          </p:cNvSpPr>
          <p:nvPr>
            <p:ph type="sldNum" sz="quarter" idx="12"/>
          </p:nvPr>
        </p:nvSpPr>
        <p:spPr/>
        <p:txBody>
          <a:bodyPr/>
          <a:lstStyle/>
          <a:p>
            <a:fld id="{47FF2479-6EF9-4BD3-9342-7DC0DF46B19E}" type="slidenum">
              <a:rPr lang="en-US" smtClean="0"/>
              <a:t>‹#›</a:t>
            </a:fld>
            <a:endParaRPr lang="en-US"/>
          </a:p>
        </p:txBody>
      </p:sp>
    </p:spTree>
    <p:extLst>
      <p:ext uri="{BB962C8B-B14F-4D97-AF65-F5344CB8AC3E}">
        <p14:creationId xmlns:p14="http://schemas.microsoft.com/office/powerpoint/2010/main" val="22145393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407160-A7C8-499B-99A8-CA5DBF54CF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8D8E024-1592-40CA-B9E3-1E174D267A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06C56F-8477-47F2-8E23-B35283E509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F89623-A436-464F-8727-256EEF7BE3D9}" type="datetimeFigureOut">
              <a:rPr lang="en-US" smtClean="0"/>
              <a:t>1/23/2026</a:t>
            </a:fld>
            <a:endParaRPr lang="en-US"/>
          </a:p>
        </p:txBody>
      </p:sp>
      <p:sp>
        <p:nvSpPr>
          <p:cNvPr id="5" name="Footer Placeholder 4">
            <a:extLst>
              <a:ext uri="{FF2B5EF4-FFF2-40B4-BE49-F238E27FC236}">
                <a16:creationId xmlns:a16="http://schemas.microsoft.com/office/drawing/2014/main" id="{C50493E3-BABC-4641-937F-D1BCDD4E3C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1762A12-D80D-493E-BBD5-8ACDC1E0BB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FF2479-6EF9-4BD3-9342-7DC0DF46B19E}" type="slidenum">
              <a:rPr lang="en-US" smtClean="0"/>
              <a:t>‹#›</a:t>
            </a:fld>
            <a:endParaRPr lang="en-US"/>
          </a:p>
        </p:txBody>
      </p:sp>
    </p:spTree>
    <p:extLst>
      <p:ext uri="{BB962C8B-B14F-4D97-AF65-F5344CB8AC3E}">
        <p14:creationId xmlns:p14="http://schemas.microsoft.com/office/powerpoint/2010/main" val="2910668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455793" y="2136177"/>
            <a:ext cx="10444854" cy="2175596"/>
          </a:xfrm>
          <a:prstGeom prst="rect">
            <a:avLst/>
          </a:prstGeom>
        </p:spPr>
        <p:txBody>
          <a:bodyPr wrap="square">
            <a:spAutoFit/>
          </a:bodyPr>
          <a:lstStyle/>
          <a:p>
            <a:pPr>
              <a:lnSpc>
                <a:spcPct val="150000"/>
              </a:lnSpc>
            </a:pPr>
            <a:r>
              <a:rPr lang="en-US" sz="4800" b="1" dirty="0">
                <a:latin typeface="Times New Roman" panose="02020603050405020304" pitchFamily="18" charset="0"/>
                <a:cs typeface="Times New Roman" panose="02020603050405020304" pitchFamily="18" charset="0"/>
              </a:rPr>
              <a:t>Attendance System Using Face Recognition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FA99EF-8A40-44CF-A1D1-3E03B3FE1495}"/>
              </a:ext>
            </a:extLst>
          </p:cNvPr>
          <p:cNvSpPr txBox="1"/>
          <p:nvPr/>
        </p:nvSpPr>
        <p:spPr>
          <a:xfrm>
            <a:off x="578223" y="539097"/>
            <a:ext cx="2958353" cy="523220"/>
          </a:xfrm>
          <a:prstGeom prst="rect">
            <a:avLst/>
          </a:prstGeom>
          <a:noFill/>
        </p:spPr>
        <p:txBody>
          <a:bodyPr wrap="square" rtlCol="0">
            <a:spAutoFit/>
          </a:bodyPr>
          <a:lstStyle/>
          <a:p>
            <a:r>
              <a:rPr lang="en-US" sz="2800" b="1" dirty="0"/>
              <a:t>Abstract :</a:t>
            </a:r>
          </a:p>
        </p:txBody>
      </p:sp>
      <p:sp>
        <p:nvSpPr>
          <p:cNvPr id="4" name="TextBox 3">
            <a:extLst>
              <a:ext uri="{FF2B5EF4-FFF2-40B4-BE49-F238E27FC236}">
                <a16:creationId xmlns:a16="http://schemas.microsoft.com/office/drawing/2014/main" id="{91200AE4-C398-4258-9183-95B0FE458059}"/>
              </a:ext>
            </a:extLst>
          </p:cNvPr>
          <p:cNvSpPr txBox="1"/>
          <p:nvPr/>
        </p:nvSpPr>
        <p:spPr>
          <a:xfrm>
            <a:off x="495299" y="1062317"/>
            <a:ext cx="11201401" cy="5444054"/>
          </a:xfrm>
          <a:prstGeom prst="rect">
            <a:avLst/>
          </a:prstGeom>
          <a:noFill/>
        </p:spPr>
        <p:txBody>
          <a:bodyPr wrap="square">
            <a:spAutoFit/>
          </a:bodyPr>
          <a:lstStyle/>
          <a:p>
            <a:pPr>
              <a:lnSpc>
                <a:spcPct val="150000"/>
              </a:lnSpc>
            </a:pPr>
            <a:r>
              <a:rPr lang="en-US" dirty="0">
                <a:latin typeface="Times New Roman" panose="02020603050405020304" pitchFamily="18" charset="0"/>
                <a:cs typeface="Times New Roman" panose="02020603050405020304" pitchFamily="18" charset="0"/>
              </a:rPr>
              <a:t>The "Attendance System using Face Recognition" is an advanced, AI-driven solution designed to automate and streamline attendance management in educational institutions and corporate environments. Traditional methods such as manual registers, fingerprint scanners, or RFID systems are prone to issues like proxy attendance, human error, hygiene concerns, and administrative burden.</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This project leverages facial recognition technology built using Python, Django, and deep learning libraries such as </a:t>
            </a:r>
            <a:r>
              <a:rPr lang="en-US" dirty="0" err="1">
                <a:latin typeface="Times New Roman" panose="02020603050405020304" pitchFamily="18" charset="0"/>
                <a:cs typeface="Times New Roman" panose="02020603050405020304" pitchFamily="18" charset="0"/>
              </a:rPr>
              <a:t>face_recognition</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dlib</a:t>
            </a:r>
            <a:r>
              <a:rPr lang="en-US" dirty="0">
                <a:latin typeface="Times New Roman" panose="02020603050405020304" pitchFamily="18" charset="0"/>
                <a:cs typeface="Times New Roman" panose="02020603050405020304" pitchFamily="18" charset="0"/>
              </a:rPr>
              <a:t>. A webcam captures the student’s face in real time, and the system verifies it against a pre-trained dataset to mark attendance with high accuracy. The system features a user-friendly admin dashboard, real-time attendance logging, and visual summaries through charts.</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Additionally, it includes an email notification system to inform users instantly of attendance status and supports bulk absent marking and data reset features. The system provides a contactless, secure, and efficient approach to attendance, reducing administrative effort and improving transparency and reliability.</a:t>
            </a:r>
          </a:p>
        </p:txBody>
      </p:sp>
    </p:spTree>
    <p:extLst>
      <p:ext uri="{BB962C8B-B14F-4D97-AF65-F5344CB8AC3E}">
        <p14:creationId xmlns:p14="http://schemas.microsoft.com/office/powerpoint/2010/main" val="2568482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6D75A82-DD8A-4005-8F43-D26A2E4BA5AC}"/>
              </a:ext>
            </a:extLst>
          </p:cNvPr>
          <p:cNvSpPr txBox="1"/>
          <p:nvPr/>
        </p:nvSpPr>
        <p:spPr>
          <a:xfrm>
            <a:off x="578223" y="539097"/>
            <a:ext cx="2958353" cy="523220"/>
          </a:xfrm>
          <a:prstGeom prst="rect">
            <a:avLst/>
          </a:prstGeom>
          <a:noFill/>
        </p:spPr>
        <p:txBody>
          <a:bodyPr wrap="square" rtlCol="0">
            <a:spAutoFit/>
          </a:bodyPr>
          <a:lstStyle/>
          <a:p>
            <a:r>
              <a:rPr lang="en-US" sz="2800" b="1" dirty="0"/>
              <a:t>Introduction :</a:t>
            </a:r>
          </a:p>
        </p:txBody>
      </p:sp>
      <p:sp>
        <p:nvSpPr>
          <p:cNvPr id="3" name="TextBox 2">
            <a:extLst>
              <a:ext uri="{FF2B5EF4-FFF2-40B4-BE49-F238E27FC236}">
                <a16:creationId xmlns:a16="http://schemas.microsoft.com/office/drawing/2014/main" id="{42DF7074-E73C-41C1-A60B-AF06D4D89535}"/>
              </a:ext>
            </a:extLst>
          </p:cNvPr>
          <p:cNvSpPr txBox="1"/>
          <p:nvPr/>
        </p:nvSpPr>
        <p:spPr>
          <a:xfrm>
            <a:off x="578223" y="1062317"/>
            <a:ext cx="10919012" cy="5444054"/>
          </a:xfrm>
          <a:prstGeom prst="rect">
            <a:avLst/>
          </a:prstGeom>
          <a:noFill/>
        </p:spPr>
        <p:txBody>
          <a:bodyPr wrap="square">
            <a:spAutoFit/>
          </a:bodyPr>
          <a:lstStyle/>
          <a:p>
            <a:pPr>
              <a:lnSpc>
                <a:spcPct val="150000"/>
              </a:lnSpc>
            </a:pPr>
            <a:r>
              <a:rPr lang="en-US" dirty="0">
                <a:latin typeface="Times New Roman" panose="02020603050405020304" pitchFamily="18" charset="0"/>
                <a:cs typeface="Times New Roman" panose="02020603050405020304" pitchFamily="18" charset="0"/>
              </a:rPr>
              <a:t>The growing need for automation in educational and professional environments has led to the development of efficient systems that minimize human intervention. One such area is attendance tracking, which traditionally involves manual entry or RFID cards—methods that are vulnerable to fraud, loss, and inefficiency. The Attendance System using Face Recognition is a modern approach that leverages artificial intelligence and computer vision to automate this process. The system captures facial images through a webcam, extracts facial features using deep learning models, and matches them against a pre-registered database. Once a match is found, the system marks the student or employee as present. This not only eliminates the need for physical interaction but also ensures data is recorded in real-time. The system is integrated into a Django web application, where administrators can monitor daily attendance, generate reports, and reset or modify attendance logs. The backend is connected to a database that stores all student records, attendance logs, and face encodings. It has been implemented with a user-friendly UI for both admin and student interfaces. In this project, we address issues related to accuracy, efficiency, and security of attendance systems by incorporating machine learning, face recognition, and web technologies into a unified platform.</a:t>
            </a:r>
          </a:p>
        </p:txBody>
      </p:sp>
    </p:spTree>
    <p:extLst>
      <p:ext uri="{BB962C8B-B14F-4D97-AF65-F5344CB8AC3E}">
        <p14:creationId xmlns:p14="http://schemas.microsoft.com/office/powerpoint/2010/main" val="36571549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E70F794-C345-46D8-8516-5BA75656B6A3}"/>
              </a:ext>
            </a:extLst>
          </p:cNvPr>
          <p:cNvSpPr txBox="1"/>
          <p:nvPr/>
        </p:nvSpPr>
        <p:spPr>
          <a:xfrm>
            <a:off x="322728" y="915377"/>
            <a:ext cx="11214848" cy="5444054"/>
          </a:xfrm>
          <a:prstGeom prst="rect">
            <a:avLst/>
          </a:prstGeom>
          <a:noFill/>
        </p:spPr>
        <p:txBody>
          <a:bodyPr wrap="square">
            <a:spAutoFit/>
          </a:bodyPr>
          <a:lstStyle/>
          <a:p>
            <a:pPr>
              <a:lnSpc>
                <a:spcPct val="150000"/>
              </a:lnSpc>
            </a:pPr>
            <a:r>
              <a:rPr lang="en-US" b="1" dirty="0"/>
              <a:t>Technical Feasibility:</a:t>
            </a:r>
            <a:r>
              <a:rPr lang="en-US" dirty="0"/>
              <a:t> The proposed system utilizes well-established technologies such as OpenCV, face recognition libraries, and Django web framework. It can run on standard computing infrastructure with a webcam, making it technically feasible without the need for specialized hardware.</a:t>
            </a:r>
          </a:p>
          <a:p>
            <a:pPr>
              <a:lnSpc>
                <a:spcPct val="150000"/>
              </a:lnSpc>
            </a:pPr>
            <a:r>
              <a:rPr lang="en-US" b="1" dirty="0"/>
              <a:t>Operational Feasibility:</a:t>
            </a:r>
            <a:r>
              <a:rPr lang="en-US" dirty="0"/>
              <a:t> Operationally, the system enhances efficiency by automating attendance, reducing the need for manual supervision. Faculty or HR personnel can easily monitor and download records, while the intuitive interface ensures easy adoption by non-technical users.</a:t>
            </a:r>
          </a:p>
          <a:p>
            <a:pPr>
              <a:lnSpc>
                <a:spcPct val="150000"/>
              </a:lnSpc>
            </a:pPr>
            <a:r>
              <a:rPr lang="en-US" b="1" dirty="0"/>
              <a:t>Economic Feasibility:</a:t>
            </a:r>
            <a:r>
              <a:rPr lang="en-US" dirty="0"/>
              <a:t> This solution is cost-effective as it leverages open-source technologies, eliminating the need for expensive licensing or proprietary tools. Institutions can implement the system using existing infrastructure with minimal upgrades, ensuring a high return on investment.</a:t>
            </a:r>
          </a:p>
          <a:p>
            <a:pPr>
              <a:lnSpc>
                <a:spcPct val="150000"/>
              </a:lnSpc>
            </a:pPr>
            <a:r>
              <a:rPr lang="en-US" b="1" dirty="0"/>
              <a:t>Legal and Ethical Feasibility:</a:t>
            </a:r>
            <a:r>
              <a:rPr lang="en-US" dirty="0"/>
              <a:t> The system must comply with data privacy regulations, especially when handling biometric data. By implementing secure authentication, encrypted storage, and transparent policies, legal feasibility is ensured.</a:t>
            </a:r>
          </a:p>
          <a:p>
            <a:pPr>
              <a:lnSpc>
                <a:spcPct val="150000"/>
              </a:lnSpc>
            </a:pPr>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C588EAF-3FAF-4702-B445-D70074EF71A5}"/>
              </a:ext>
            </a:extLst>
          </p:cNvPr>
          <p:cNvSpPr txBox="1"/>
          <p:nvPr/>
        </p:nvSpPr>
        <p:spPr>
          <a:xfrm>
            <a:off x="322728" y="376676"/>
            <a:ext cx="3926541" cy="523220"/>
          </a:xfrm>
          <a:prstGeom prst="rect">
            <a:avLst/>
          </a:prstGeom>
          <a:noFill/>
        </p:spPr>
        <p:txBody>
          <a:bodyPr wrap="square" rtlCol="0">
            <a:spAutoFit/>
          </a:bodyPr>
          <a:lstStyle/>
          <a:p>
            <a:r>
              <a:rPr lang="en-US" sz="2800" b="1" dirty="0"/>
              <a:t>Feasibility Study :</a:t>
            </a:r>
          </a:p>
        </p:txBody>
      </p:sp>
    </p:spTree>
    <p:extLst>
      <p:ext uri="{BB962C8B-B14F-4D97-AF65-F5344CB8AC3E}">
        <p14:creationId xmlns:p14="http://schemas.microsoft.com/office/powerpoint/2010/main" val="2395975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C6922B4-CD63-47CF-9BFF-1E54088B7E18}"/>
              </a:ext>
            </a:extLst>
          </p:cNvPr>
          <p:cNvSpPr txBox="1"/>
          <p:nvPr/>
        </p:nvSpPr>
        <p:spPr>
          <a:xfrm>
            <a:off x="295833" y="1344707"/>
            <a:ext cx="11389659" cy="5444054"/>
          </a:xfrm>
          <a:prstGeom prst="rect">
            <a:avLst/>
          </a:prstGeom>
          <a:noFill/>
        </p:spPr>
        <p:txBody>
          <a:bodyPr wrap="square">
            <a:spAutoFit/>
          </a:bodyPr>
          <a:lstStyle/>
          <a:p>
            <a:pPr>
              <a:lnSpc>
                <a:spcPct val="150000"/>
              </a:lnSpc>
            </a:pPr>
            <a:r>
              <a:rPr lang="en-US" dirty="0"/>
              <a:t>	The current attendance systems in most institutions use manual registers, biometric fingerprint scanners, or RFID card-based solutions. Manual methods are tedious, error-prone, and often subject to manipulation like proxy attendance. Biometric fingerprint systems, though more secure, involve physical contact, which raises hygiene concerns—especially after COVID-19. These devices may also malfunction due to dirt, moisture, or improper finger placement.</a:t>
            </a:r>
          </a:p>
          <a:p>
            <a:pPr>
              <a:lnSpc>
                <a:spcPct val="150000"/>
              </a:lnSpc>
            </a:pPr>
            <a:r>
              <a:rPr lang="en-US" dirty="0"/>
              <a:t>	RFID-based systems are faster and contactless but not foolproof. Cards can be swapped among users, and carrying physical tokens adds inconvenience. Additionally, these systems require dedicated hardware installations and offer limited integration with digital dashboards or real-time reporting.</a:t>
            </a:r>
          </a:p>
          <a:p>
            <a:pPr>
              <a:lnSpc>
                <a:spcPct val="150000"/>
              </a:lnSpc>
            </a:pPr>
            <a:r>
              <a:rPr lang="en-US" dirty="0"/>
              <a:t>	All existing methods lack automation, remote accessibility, and intelligent analytics. They do not offer image-based verification, making identity spoofing possible in some cases. In summary, traditional systems are inefficient, rigid, and unsuitable for large-scale, modern deployments—highlighting the need for a more advanced and automated face recognition-based attendance system.</a:t>
            </a:r>
          </a:p>
          <a:p>
            <a:pPr>
              <a:lnSpc>
                <a:spcPct val="150000"/>
              </a:lnSpc>
            </a:pPr>
            <a:endParaRPr lang="en-US" dirty="0">
              <a:latin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E148BF1E-437F-4CB1-8B75-626F50355607}"/>
              </a:ext>
            </a:extLst>
          </p:cNvPr>
          <p:cNvSpPr txBox="1">
            <a:spLocks/>
          </p:cNvSpPr>
          <p:nvPr/>
        </p:nvSpPr>
        <p:spPr>
          <a:xfrm>
            <a:off x="504262" y="501344"/>
            <a:ext cx="3933267" cy="582613"/>
          </a:xfrm>
          <a:prstGeom prst="rect">
            <a:avLst/>
          </a:prstGeom>
          <a:noFill/>
          <a:ln w="9525">
            <a:noFill/>
          </a:ln>
        </p:spPr>
        <p:txBody>
          <a:bodyPr anchor="ctr" anchorCtr="0"/>
          <a:lst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pPr defTabSz="914400"/>
            <a:r>
              <a:rPr lang="en-US" altLang="en-US" b="1" dirty="0">
                <a:latin typeface="Times New Roman" panose="02020603050405020304" charset="0"/>
                <a:cs typeface="Times New Roman" panose="02020603050405020304" charset="0"/>
              </a:rPr>
              <a:t>Existing System</a:t>
            </a:r>
          </a:p>
        </p:txBody>
      </p:sp>
    </p:spTree>
    <p:extLst>
      <p:ext uri="{BB962C8B-B14F-4D97-AF65-F5344CB8AC3E}">
        <p14:creationId xmlns:p14="http://schemas.microsoft.com/office/powerpoint/2010/main" val="2699215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9A9609-37BB-4501-9ABE-491DC3A3B291}"/>
              </a:ext>
            </a:extLst>
          </p:cNvPr>
          <p:cNvSpPr>
            <a:spLocks noChangeArrowheads="1"/>
          </p:cNvSpPr>
          <p:nvPr/>
        </p:nvSpPr>
        <p:spPr bwMode="auto">
          <a:xfrm rot="10800000" flipV="1">
            <a:off x="376518" y="2043568"/>
            <a:ext cx="1055594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Wingdings" panose="05000000000000000000" pitchFamily="2" charset="2"/>
              <a:buChar char="Ø"/>
            </a:pPr>
            <a:r>
              <a:rPr lang="en-US" dirty="0"/>
              <a:t>The existing attendance systems, such as manual registers, fingerprint scanners, and RFID cards, suffer from several key drawbacks. Manual attendance is slow, tedious, and prone to human errors like incorrect entries or missed records. It also allows for manipulation, including proxy attendance where someone marks presence on behalf of another.</a:t>
            </a:r>
          </a:p>
          <a:p>
            <a:pPr marL="285750" indent="-285750">
              <a:buFont typeface="Wingdings" panose="05000000000000000000" pitchFamily="2" charset="2"/>
              <a:buChar char="Ø"/>
            </a:pPr>
            <a:r>
              <a:rPr lang="en-US" dirty="0"/>
              <a:t>Fingerprint-based biometric systems, although more secure, require physical contact. This raises hygiene concerns and makes them unsuitable in health-sensitive environments. These systems are also sensitive to skin conditions, dirt, or sensor failures, leading to frequent mismatches.</a:t>
            </a:r>
          </a:p>
          <a:p>
            <a:pPr marL="285750" indent="-285750">
              <a:buFont typeface="Wingdings" panose="05000000000000000000" pitchFamily="2" charset="2"/>
              <a:buChar char="Ø"/>
            </a:pPr>
            <a:r>
              <a:rPr lang="en-US" dirty="0"/>
              <a:t>RFID-based systems are contactless but vulnerable to misuse, as users can swap cards to fake attendance. They also depend on users remembering to carry the RFID card or tag, and replacing lost cards increases operational cost.</a:t>
            </a:r>
          </a:p>
          <a:p>
            <a:pPr marL="285750" indent="-285750">
              <a:buFont typeface="Wingdings" panose="05000000000000000000" pitchFamily="2" charset="2"/>
              <a:buChar char="Ø"/>
            </a:pPr>
            <a:r>
              <a:rPr lang="en-US" dirty="0"/>
              <a:t>All these systems lack real-time tracking, remote access, automation, and intelligent reporting—making them inefficient and outdated for institutions seeking smart, scalable, and secure attendance solutions.</a:t>
            </a:r>
          </a:p>
        </p:txBody>
      </p:sp>
      <p:sp>
        <p:nvSpPr>
          <p:cNvPr id="3" name="Title 1">
            <a:extLst>
              <a:ext uri="{FF2B5EF4-FFF2-40B4-BE49-F238E27FC236}">
                <a16:creationId xmlns:a16="http://schemas.microsoft.com/office/drawing/2014/main" id="{C7C43DF7-AF86-4FD3-8DE5-4BB324D95FF3}"/>
              </a:ext>
            </a:extLst>
          </p:cNvPr>
          <p:cNvSpPr txBox="1">
            <a:spLocks/>
          </p:cNvSpPr>
          <p:nvPr/>
        </p:nvSpPr>
        <p:spPr>
          <a:xfrm>
            <a:off x="376518" y="585988"/>
            <a:ext cx="10972800" cy="582613"/>
          </a:xfrm>
          <a:prstGeom prst="rect">
            <a:avLst/>
          </a:prstGeom>
          <a:noFill/>
          <a:ln w="9525">
            <a:noFill/>
          </a:ln>
        </p:spPr>
        <p:txBody>
          <a:bodyPr anchor="ctr" anchorCtr="0"/>
          <a:lst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GB" sz="3600" b="1" i="0" u="none" strike="noStrike" kern="1200" cap="none" spc="0" normalizeH="0" baseline="0" noProof="0">
                <a:ln>
                  <a:noFill/>
                </a:ln>
                <a:solidFill>
                  <a:srgbClr val="000000"/>
                </a:solidFill>
                <a:effectLst/>
                <a:uLnTx/>
                <a:uFillTx/>
                <a:latin typeface="Times New Roman" panose="02020603050405020304" charset="0"/>
                <a:ea typeface="SimSun"/>
                <a:cs typeface="Times New Roman" panose="02020603050405020304" charset="0"/>
                <a:sym typeface="+mn-ea"/>
              </a:rPr>
              <a:t>Drawbacks of the Existing System</a:t>
            </a:r>
            <a:endParaRPr kumimoji="0" lang="en-GB" altLang="en-US" sz="3600" b="0" i="0" u="none" strike="noStrike" kern="1200" cap="none" spc="0" normalizeH="0" baseline="0" noProof="0" dirty="0">
              <a:ln>
                <a:noFill/>
              </a:ln>
              <a:solidFill>
                <a:srgbClr val="000000"/>
              </a:solidFill>
              <a:effectLst/>
              <a:uLnTx/>
              <a:uFillTx/>
              <a:latin typeface="Arial"/>
              <a:ea typeface="SimSun"/>
              <a:cs typeface="+mj-cs"/>
            </a:endParaRPr>
          </a:p>
        </p:txBody>
      </p:sp>
    </p:spTree>
    <p:extLst>
      <p:ext uri="{BB962C8B-B14F-4D97-AF65-F5344CB8AC3E}">
        <p14:creationId xmlns:p14="http://schemas.microsoft.com/office/powerpoint/2010/main" val="25970023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809C4-208D-4FC5-9DC0-83CC882E0F91}"/>
              </a:ext>
            </a:extLst>
          </p:cNvPr>
          <p:cNvSpPr txBox="1">
            <a:spLocks/>
          </p:cNvSpPr>
          <p:nvPr/>
        </p:nvSpPr>
        <p:spPr>
          <a:xfrm>
            <a:off x="609600" y="190500"/>
            <a:ext cx="3922059" cy="582613"/>
          </a:xfrm>
          <a:prstGeom prst="rect">
            <a:avLst/>
          </a:prstGeom>
        </p:spPr>
        <p:txBody>
          <a:bodyPr/>
          <a:lst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pPr defTabSz="914400"/>
            <a:r>
              <a:rPr lang="en-US" altLang="en-US" b="1" dirty="0">
                <a:latin typeface="Times New Roman" panose="02020603050405020304" charset="0"/>
                <a:cs typeface="Times New Roman" panose="02020603050405020304" charset="0"/>
              </a:rPr>
              <a:t>Proposed System</a:t>
            </a:r>
          </a:p>
        </p:txBody>
      </p:sp>
      <p:sp>
        <p:nvSpPr>
          <p:cNvPr id="5" name="Rectangle 3">
            <a:extLst>
              <a:ext uri="{FF2B5EF4-FFF2-40B4-BE49-F238E27FC236}">
                <a16:creationId xmlns:a16="http://schemas.microsoft.com/office/drawing/2014/main" id="{9D4163AD-8354-43A9-B943-87BAE80A13F2}"/>
              </a:ext>
            </a:extLst>
          </p:cNvPr>
          <p:cNvSpPr>
            <a:spLocks noChangeArrowheads="1"/>
          </p:cNvSpPr>
          <p:nvPr/>
        </p:nvSpPr>
        <p:spPr bwMode="auto">
          <a:xfrm>
            <a:off x="609600" y="1420949"/>
            <a:ext cx="11282082" cy="4204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dirty="0"/>
              <a:t>The proposed system introduces an advanced </a:t>
            </a:r>
            <a:r>
              <a:rPr lang="en-US" b="1" dirty="0"/>
              <a:t>Face Recognition-Based Attendance System</a:t>
            </a:r>
            <a:r>
              <a:rPr lang="en-US" dirty="0"/>
              <a:t> that automates attendance tracking using computer vision and deep learning. It captures real-time facial images through a webcam, detects and recognizes faces with high accuracy, and marks attendance instantly without any physical contact—ensuring hygiene and eliminating proxy attendance.</a:t>
            </a:r>
          </a:p>
          <a:p>
            <a:pPr>
              <a:lnSpc>
                <a:spcPct val="150000"/>
              </a:lnSpc>
            </a:pPr>
            <a:r>
              <a:rPr lang="en-US" dirty="0"/>
              <a:t>Built using Python with Django, the system features a clean and interactive web interface for administrators. Attendance data, including student name, date, time, status, and confidence level, is securely stored and can be reviewed or exported for reporting.</a:t>
            </a:r>
          </a:p>
          <a:p>
            <a:pPr>
              <a:lnSpc>
                <a:spcPct val="150000"/>
              </a:lnSpc>
            </a:pPr>
            <a:r>
              <a:rPr lang="en-US" dirty="0"/>
              <a:t>A key feature of the proposed system is </a:t>
            </a:r>
            <a:r>
              <a:rPr lang="en-US" b="1" dirty="0"/>
              <a:t>email notification</a:t>
            </a:r>
            <a:r>
              <a:rPr lang="en-US" dirty="0"/>
              <a:t>: an automated email is sent to the registered email ID of the student. This improves transparency and keeps students and parents informed in real-time. The system also supports bulk absent marking, daily reset, and dashboard analytics, making it a complete smart solution for modern institutions.</a:t>
            </a:r>
          </a:p>
        </p:txBody>
      </p:sp>
    </p:spTree>
    <p:extLst>
      <p:ext uri="{BB962C8B-B14F-4D97-AF65-F5344CB8AC3E}">
        <p14:creationId xmlns:p14="http://schemas.microsoft.com/office/powerpoint/2010/main" val="22580836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B2E0A9-0424-40C4-A22A-ECA0E9BEB8EB}"/>
              </a:ext>
            </a:extLst>
          </p:cNvPr>
          <p:cNvSpPr txBox="1"/>
          <p:nvPr/>
        </p:nvSpPr>
        <p:spPr>
          <a:xfrm>
            <a:off x="309282" y="1087679"/>
            <a:ext cx="11604812" cy="5035353"/>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US" dirty="0"/>
              <a:t>The proposed Face Recognition-Based Attendance System offers numerous benefits over traditional methods. Firstly, it provides a </a:t>
            </a:r>
            <a:r>
              <a:rPr lang="en-US" b="1" dirty="0"/>
              <a:t>contactless and hygienic</a:t>
            </a:r>
            <a:r>
              <a:rPr lang="en-US" dirty="0"/>
              <a:t> solution, reducing the risk of infections—especially important in post-pandemic scenarios. It completely eliminates </a:t>
            </a:r>
            <a:r>
              <a:rPr lang="en-US" b="1" dirty="0"/>
              <a:t>proxy attendance</a:t>
            </a:r>
            <a:r>
              <a:rPr lang="en-US" dirty="0"/>
              <a:t> through biometric facial identification, ensuring only the registered person is marked present.</a:t>
            </a:r>
          </a:p>
          <a:p>
            <a:pPr marL="285750" indent="-285750">
              <a:lnSpc>
                <a:spcPct val="150000"/>
              </a:lnSpc>
              <a:buFont typeface="Wingdings" panose="05000000000000000000" pitchFamily="2" charset="2"/>
              <a:buChar char="Ø"/>
            </a:pPr>
            <a:r>
              <a:rPr lang="en-US" dirty="0"/>
              <a:t>The system is highly </a:t>
            </a:r>
            <a:r>
              <a:rPr lang="en-US" b="1" dirty="0"/>
              <a:t>automated and time-efficient</a:t>
            </a:r>
            <a:r>
              <a:rPr lang="en-US" dirty="0"/>
              <a:t>, significantly reducing the workload on faculty or administrators by generating real-time attendance logs and reports. Its </a:t>
            </a:r>
            <a:r>
              <a:rPr lang="en-US" b="1" dirty="0"/>
              <a:t>email notification</a:t>
            </a:r>
            <a:r>
              <a:rPr lang="en-US" dirty="0"/>
              <a:t> feature enhances transparency by instantly informing students or parents about attendance status.</a:t>
            </a:r>
          </a:p>
          <a:p>
            <a:pPr marL="285750" indent="-285750">
              <a:lnSpc>
                <a:spcPct val="150000"/>
              </a:lnSpc>
              <a:buFont typeface="Wingdings" panose="05000000000000000000" pitchFamily="2" charset="2"/>
              <a:buChar char="Ø"/>
            </a:pPr>
            <a:r>
              <a:rPr lang="en-US" dirty="0"/>
              <a:t>With a user-friendly web dashboard built using Django, administrators can easily manage students, view statistics, and perform daily operations like resetting or bulk marking. The system supports </a:t>
            </a:r>
            <a:r>
              <a:rPr lang="en-US" b="1" dirty="0"/>
              <a:t>real-time analytics</a:t>
            </a:r>
            <a:r>
              <a:rPr lang="en-US" dirty="0"/>
              <a:t>, helping institutions track attendance trends and identify defaulters early.</a:t>
            </a:r>
          </a:p>
          <a:p>
            <a:pPr marL="285750" indent="-285750">
              <a:lnSpc>
                <a:spcPct val="150000"/>
              </a:lnSpc>
              <a:buFont typeface="Wingdings" panose="05000000000000000000" pitchFamily="2" charset="2"/>
              <a:buChar char="Ø"/>
            </a:pPr>
            <a:r>
              <a:rPr lang="en-US" dirty="0"/>
              <a:t>Overall, it provides </a:t>
            </a:r>
            <a:r>
              <a:rPr lang="en-US" b="1" dirty="0"/>
              <a:t>improved accuracy, security, and efficiency</a:t>
            </a:r>
            <a:r>
              <a:rPr lang="en-US" dirty="0"/>
              <a:t>, making it a scalable and smart attendance solution for schools, colleges, and corporate environments.</a:t>
            </a:r>
          </a:p>
        </p:txBody>
      </p:sp>
      <p:sp>
        <p:nvSpPr>
          <p:cNvPr id="4" name="Title 1">
            <a:extLst>
              <a:ext uri="{FF2B5EF4-FFF2-40B4-BE49-F238E27FC236}">
                <a16:creationId xmlns:a16="http://schemas.microsoft.com/office/drawing/2014/main" id="{00B9E4C1-D744-4BBA-A32A-86ED7933159D}"/>
              </a:ext>
            </a:extLst>
          </p:cNvPr>
          <p:cNvSpPr txBox="1">
            <a:spLocks/>
          </p:cNvSpPr>
          <p:nvPr/>
        </p:nvSpPr>
        <p:spPr>
          <a:xfrm>
            <a:off x="309282" y="155442"/>
            <a:ext cx="10972800" cy="582613"/>
          </a:xfrm>
          <a:prstGeom prst="rect">
            <a:avLst/>
          </a:prstGeom>
          <a:noFill/>
          <a:ln w="9525">
            <a:noFill/>
          </a:ln>
        </p:spPr>
        <p:txBody>
          <a:bodyPr anchor="ctr" anchorCtr="0"/>
          <a:lst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GB" sz="3600" b="0" i="0" u="none" strike="noStrike" kern="1200" cap="none" spc="0" normalizeH="0" baseline="0" noProof="0">
                <a:ln>
                  <a:noFill/>
                </a:ln>
                <a:solidFill>
                  <a:srgbClr val="000000"/>
                </a:solidFill>
                <a:effectLst/>
                <a:uLnTx/>
                <a:uFillTx/>
                <a:latin typeface="Arial"/>
                <a:ea typeface="SimSun"/>
                <a:cs typeface="+mj-cs"/>
              </a:rPr>
              <a:t>BENEFITS OF PROPOSED SYSTEM</a:t>
            </a:r>
            <a:endParaRPr kumimoji="0" lang="en-US" altLang="en-GB" sz="3600" b="0" i="0" u="none" strike="noStrike" kern="1200" cap="none" spc="0" normalizeH="0" baseline="0" noProof="0" dirty="0">
              <a:ln>
                <a:noFill/>
              </a:ln>
              <a:solidFill>
                <a:srgbClr val="000000"/>
              </a:solidFill>
              <a:effectLst/>
              <a:uLnTx/>
              <a:uFillTx/>
              <a:latin typeface="Arial"/>
              <a:ea typeface="SimSun"/>
              <a:cs typeface="+mj-cs"/>
            </a:endParaRPr>
          </a:p>
        </p:txBody>
      </p:sp>
    </p:spTree>
    <p:extLst>
      <p:ext uri="{BB962C8B-B14F-4D97-AF65-F5344CB8AC3E}">
        <p14:creationId xmlns:p14="http://schemas.microsoft.com/office/powerpoint/2010/main" val="1246397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D6279-55C9-4DE8-B617-FA432B31B8B3}"/>
              </a:ext>
            </a:extLst>
          </p:cNvPr>
          <p:cNvSpPr txBox="1">
            <a:spLocks/>
          </p:cNvSpPr>
          <p:nvPr/>
        </p:nvSpPr>
        <p:spPr>
          <a:xfrm>
            <a:off x="3541058" y="76433"/>
            <a:ext cx="10972800" cy="582613"/>
          </a:xfrm>
          <a:prstGeom prst="rect">
            <a:avLst/>
          </a:prstGeom>
        </p:spPr>
        <p:txBody>
          <a:bodyPr/>
          <a:lst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pPr defTabSz="914400"/>
            <a:r>
              <a:rPr lang="en-US" altLang="en-US" b="1" dirty="0">
                <a:latin typeface="Times New Roman" panose="02020603050405020304" charset="0"/>
                <a:cs typeface="Times New Roman" panose="02020603050405020304" charset="0"/>
              </a:rPr>
              <a:t>Modules in the Project</a:t>
            </a:r>
          </a:p>
        </p:txBody>
      </p:sp>
      <p:sp>
        <p:nvSpPr>
          <p:cNvPr id="3" name="Content Placeholder 2">
            <a:extLst>
              <a:ext uri="{FF2B5EF4-FFF2-40B4-BE49-F238E27FC236}">
                <a16:creationId xmlns:a16="http://schemas.microsoft.com/office/drawing/2014/main" id="{D303DE9A-9C6E-4FF6-8270-1A3BF1DFDA0F}"/>
              </a:ext>
            </a:extLst>
          </p:cNvPr>
          <p:cNvSpPr txBox="1">
            <a:spLocks/>
          </p:cNvSpPr>
          <p:nvPr/>
        </p:nvSpPr>
        <p:spPr>
          <a:xfrm>
            <a:off x="609600" y="1174750"/>
            <a:ext cx="10972800" cy="4508500"/>
          </a:xfrm>
          <a:prstGeom prst="rect">
            <a:avLst/>
          </a:prstGeom>
        </p:spPr>
        <p:txBody>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400">
              <a:lnSpc>
                <a:spcPct val="150000"/>
              </a:lnSpc>
            </a:pPr>
            <a:endParaRPr lang="en-US" altLang="en-US" dirty="0">
              <a:latin typeface="Times New Roman" panose="02020603050405020304" pitchFamily="18" charset="0"/>
              <a:cs typeface="Times New Roman" panose="02020603050405020304" pitchFamily="18" charset="0"/>
            </a:endParaRPr>
          </a:p>
        </p:txBody>
      </p:sp>
      <p:sp>
        <p:nvSpPr>
          <p:cNvPr id="6" name="Rectangle 3">
            <a:extLst>
              <a:ext uri="{FF2B5EF4-FFF2-40B4-BE49-F238E27FC236}">
                <a16:creationId xmlns:a16="http://schemas.microsoft.com/office/drawing/2014/main" id="{8B4854D9-54C9-427C-ADFF-EE85D1779557}"/>
              </a:ext>
            </a:extLst>
          </p:cNvPr>
          <p:cNvSpPr>
            <a:spLocks noChangeArrowheads="1"/>
          </p:cNvSpPr>
          <p:nvPr/>
        </p:nvSpPr>
        <p:spPr bwMode="auto">
          <a:xfrm>
            <a:off x="-1290917" y="725955"/>
            <a:ext cx="8430513" cy="5831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743200" lvl="5" indent="-457200" eaLnBrk="0" fontAlgn="base" hangingPunct="0">
              <a:lnSpc>
                <a:spcPct val="150000"/>
              </a:lnSpc>
              <a:spcBef>
                <a:spcPct val="0"/>
              </a:spcBef>
              <a:spcAft>
                <a:spcPct val="0"/>
              </a:spcAft>
              <a:buFont typeface="Wingdings" panose="05000000000000000000" pitchFamily="2" charset="2"/>
              <a:buChar char="Ø"/>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Student Management Module</a:t>
            </a:r>
          </a:p>
          <a:p>
            <a:pPr marL="2743200" lvl="5" indent="-457200" eaLnBrk="0" fontAlgn="base" hangingPunct="0">
              <a:lnSpc>
                <a:spcPct val="150000"/>
              </a:lnSpc>
              <a:spcBef>
                <a:spcPct val="0"/>
              </a:spcBef>
              <a:spcAft>
                <a:spcPct val="0"/>
              </a:spcAft>
              <a:buFont typeface="Wingdings" panose="05000000000000000000" pitchFamily="2" charset="2"/>
              <a:buChar char="Ø"/>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Face Recognition Module</a:t>
            </a:r>
          </a:p>
          <a:p>
            <a:pPr marL="2743200" lvl="5" indent="-457200" eaLnBrk="0" fontAlgn="base" hangingPunct="0">
              <a:lnSpc>
                <a:spcPct val="150000"/>
              </a:lnSpc>
              <a:spcBef>
                <a:spcPct val="0"/>
              </a:spcBef>
              <a:spcAft>
                <a:spcPct val="0"/>
              </a:spcAft>
              <a:buFont typeface="Wingdings" panose="05000000000000000000" pitchFamily="2" charset="2"/>
              <a:buChar char="Ø"/>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Attendance Marking Module</a:t>
            </a:r>
          </a:p>
          <a:p>
            <a:pPr marL="2743200" lvl="5" indent="-457200" eaLnBrk="0" fontAlgn="base" hangingPunct="0">
              <a:lnSpc>
                <a:spcPct val="150000"/>
              </a:lnSpc>
              <a:spcBef>
                <a:spcPct val="0"/>
              </a:spcBef>
              <a:spcAft>
                <a:spcPct val="0"/>
              </a:spcAft>
              <a:buFont typeface="Wingdings" panose="05000000000000000000" pitchFamily="2" charset="2"/>
              <a:buChar char="Ø"/>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Email Notification Module</a:t>
            </a:r>
          </a:p>
          <a:p>
            <a:pPr marL="2743200" lvl="5" indent="-457200" eaLnBrk="0" fontAlgn="base" hangingPunct="0">
              <a:lnSpc>
                <a:spcPct val="150000"/>
              </a:lnSpc>
              <a:spcBef>
                <a:spcPct val="0"/>
              </a:spcBef>
              <a:spcAft>
                <a:spcPct val="0"/>
              </a:spcAft>
              <a:buFont typeface="Wingdings" panose="05000000000000000000" pitchFamily="2" charset="2"/>
              <a:buChar char="Ø"/>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Admin Dashboard Module</a:t>
            </a:r>
          </a:p>
          <a:p>
            <a:pPr marL="2743200" lvl="5" indent="-457200" eaLnBrk="0" fontAlgn="base" hangingPunct="0">
              <a:lnSpc>
                <a:spcPct val="150000"/>
              </a:lnSpc>
              <a:spcBef>
                <a:spcPct val="0"/>
              </a:spcBef>
              <a:spcAft>
                <a:spcPct val="0"/>
              </a:spcAft>
              <a:buFont typeface="Wingdings" panose="05000000000000000000" pitchFamily="2" charset="2"/>
              <a:buChar char="Ø"/>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Attendance Statistics &amp; Chart Module</a:t>
            </a:r>
          </a:p>
          <a:p>
            <a:pPr marL="2743200" lvl="5" indent="-457200" eaLnBrk="0" fontAlgn="base" hangingPunct="0">
              <a:lnSpc>
                <a:spcPct val="150000"/>
              </a:lnSpc>
              <a:spcBef>
                <a:spcPct val="0"/>
              </a:spcBef>
              <a:spcAft>
                <a:spcPct val="0"/>
              </a:spcAft>
              <a:buFont typeface="Wingdings" panose="05000000000000000000" pitchFamily="2" charset="2"/>
              <a:buChar char="Ø"/>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Reset Attendance Module</a:t>
            </a:r>
          </a:p>
          <a:p>
            <a:pPr marL="2743200" lvl="5" indent="-457200" eaLnBrk="0" fontAlgn="base" hangingPunct="0">
              <a:lnSpc>
                <a:spcPct val="150000"/>
              </a:lnSpc>
              <a:spcBef>
                <a:spcPct val="0"/>
              </a:spcBef>
              <a:spcAft>
                <a:spcPct val="0"/>
              </a:spcAft>
              <a:buFont typeface="Wingdings" panose="05000000000000000000" pitchFamily="2" charset="2"/>
              <a:buChar char="Ø"/>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Camera Integration Module</a:t>
            </a:r>
          </a:p>
          <a:p>
            <a:pPr marL="2743200" lvl="5" indent="-457200" eaLnBrk="0" fontAlgn="base" hangingPunct="0">
              <a:lnSpc>
                <a:spcPct val="150000"/>
              </a:lnSpc>
              <a:spcBef>
                <a:spcPct val="0"/>
              </a:spcBef>
              <a:spcAft>
                <a:spcPct val="0"/>
              </a:spcAft>
              <a:buFont typeface="Wingdings" panose="05000000000000000000" pitchFamily="2" charset="2"/>
              <a:buChar char="Ø"/>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Database Management Module</a:t>
            </a:r>
          </a:p>
        </p:txBody>
      </p:sp>
    </p:spTree>
    <p:extLst>
      <p:ext uri="{BB962C8B-B14F-4D97-AF65-F5344CB8AC3E}">
        <p14:creationId xmlns:p14="http://schemas.microsoft.com/office/powerpoint/2010/main" val="1927355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0242ED6-404C-420B-A8F2-25F32A817BF6}"/>
              </a:ext>
            </a:extLst>
          </p:cNvPr>
          <p:cNvSpPr txBox="1"/>
          <p:nvPr/>
        </p:nvSpPr>
        <p:spPr>
          <a:xfrm>
            <a:off x="609600" y="1617291"/>
            <a:ext cx="9883589" cy="2795958"/>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en-US" altLang="en-GB" sz="2400" dirty="0">
                <a:latin typeface="Times New Roman" panose="02020603050405020304" charset="0"/>
                <a:cs typeface="Times New Roman" panose="02020603050405020304" charset="0"/>
              </a:rPr>
              <a:t>Operating System                    </a:t>
            </a:r>
            <a:r>
              <a:rPr lang="en-US" altLang="en-GB" sz="2400" b="1" dirty="0">
                <a:latin typeface="Times New Roman" panose="02020603050405020304" charset="0"/>
                <a:cs typeface="Times New Roman" panose="02020603050405020304" charset="0"/>
              </a:rPr>
              <a:t>:</a:t>
            </a:r>
            <a:r>
              <a:rPr lang="en-US" altLang="en-GB" sz="2400" dirty="0">
                <a:latin typeface="Times New Roman" panose="02020603050405020304" charset="0"/>
                <a:cs typeface="Times New Roman" panose="02020603050405020304" charset="0"/>
              </a:rPr>
              <a:t> Windows 10,11</a:t>
            </a:r>
          </a:p>
          <a:p>
            <a:pPr marL="342900" indent="-342900" algn="just">
              <a:lnSpc>
                <a:spcPct val="150000"/>
              </a:lnSpc>
              <a:buFont typeface="Wingdings" panose="05000000000000000000" pitchFamily="2" charset="2"/>
              <a:buChar char="Ø"/>
            </a:pPr>
            <a:r>
              <a:rPr lang="en-US" altLang="en-GB" sz="2400" dirty="0">
                <a:latin typeface="Times New Roman" panose="02020603050405020304" charset="0"/>
                <a:cs typeface="Times New Roman" panose="02020603050405020304" charset="0"/>
              </a:rPr>
              <a:t>Programming Language          </a:t>
            </a:r>
            <a:r>
              <a:rPr lang="en-US" altLang="en-GB" sz="2400" b="1" dirty="0">
                <a:latin typeface="Times New Roman" panose="02020603050405020304" charset="0"/>
                <a:cs typeface="Times New Roman" panose="02020603050405020304" charset="0"/>
              </a:rPr>
              <a:t>:</a:t>
            </a:r>
            <a:r>
              <a:rPr lang="en-US" altLang="en-GB" sz="2400" dirty="0">
                <a:latin typeface="Times New Roman" panose="02020603050405020304" charset="0"/>
                <a:cs typeface="Times New Roman" panose="02020603050405020304" charset="0"/>
              </a:rPr>
              <a:t> Python </a:t>
            </a:r>
          </a:p>
          <a:p>
            <a:pPr marL="342900" indent="-342900" algn="just">
              <a:lnSpc>
                <a:spcPct val="150000"/>
              </a:lnSpc>
              <a:buFont typeface="Wingdings" panose="05000000000000000000" pitchFamily="2" charset="2"/>
              <a:buChar char="Ø"/>
            </a:pPr>
            <a:r>
              <a:rPr lang="en-US" altLang="en-GB" sz="2400" dirty="0">
                <a:latin typeface="Times New Roman" panose="02020603050405020304" charset="0"/>
                <a:cs typeface="Times New Roman" panose="02020603050405020304" charset="0"/>
              </a:rPr>
              <a:t>Web Framework                      </a:t>
            </a:r>
            <a:r>
              <a:rPr lang="en-US" altLang="en-GB" sz="2400" b="1" dirty="0">
                <a:latin typeface="Times New Roman" panose="02020603050405020304" charset="0"/>
                <a:cs typeface="Times New Roman" panose="02020603050405020304" charset="0"/>
              </a:rPr>
              <a:t>:</a:t>
            </a:r>
            <a:r>
              <a:rPr lang="en-US" altLang="en-GB" sz="2400" dirty="0">
                <a:latin typeface="Times New Roman" panose="02020603050405020304" charset="0"/>
                <a:cs typeface="Times New Roman" panose="02020603050405020304" charset="0"/>
              </a:rPr>
              <a:t> Django, </a:t>
            </a:r>
          </a:p>
          <a:p>
            <a:pPr marL="342900" indent="-342900" algn="just">
              <a:lnSpc>
                <a:spcPct val="150000"/>
              </a:lnSpc>
              <a:buFont typeface="Wingdings" panose="05000000000000000000" pitchFamily="2" charset="2"/>
              <a:buChar char="Ø"/>
            </a:pPr>
            <a:r>
              <a:rPr lang="en-US" altLang="en-GB" sz="2400" dirty="0">
                <a:latin typeface="Times New Roman" panose="02020603050405020304" charset="0"/>
                <a:cs typeface="Times New Roman" panose="02020603050405020304" charset="0"/>
              </a:rPr>
              <a:t>Libraries                                  </a:t>
            </a:r>
            <a:r>
              <a:rPr lang="en-US" altLang="en-GB" sz="2400" b="1" dirty="0">
                <a:latin typeface="Times New Roman" panose="02020603050405020304" charset="0"/>
                <a:cs typeface="Times New Roman" panose="02020603050405020304" charset="0"/>
              </a:rPr>
              <a:t>:</a:t>
            </a:r>
            <a:r>
              <a:rPr lang="en-US" altLang="en-GB" sz="2400" dirty="0">
                <a:latin typeface="Times New Roman" panose="02020603050405020304" charset="0"/>
                <a:cs typeface="Times New Roman" panose="02020603050405020304" charset="0"/>
              </a:rPr>
              <a:t> </a:t>
            </a:r>
            <a:r>
              <a:rPr lang="en-US" altLang="en-GB" sz="2400" dirty="0" err="1">
                <a:latin typeface="Times New Roman" panose="02020603050405020304" pitchFamily="18" charset="0"/>
                <a:cs typeface="Times New Roman" panose="02020603050405020304" pitchFamily="18" charset="0"/>
              </a:rPr>
              <a:t>opencv</a:t>
            </a:r>
            <a:r>
              <a:rPr lang="en-US" altLang="en-GB" sz="2400" dirty="0">
                <a:latin typeface="Times New Roman" panose="02020603050405020304" pitchFamily="18" charset="0"/>
                <a:cs typeface="Times New Roman" panose="02020603050405020304" pitchFamily="18" charset="0"/>
              </a:rPr>
              <a:t>, face-recognition,</a:t>
            </a:r>
            <a:r>
              <a:rPr lang="en-US" sz="2400" dirty="0">
                <a:latin typeface="Times New Roman" panose="02020603050405020304" pitchFamily="18" charset="0"/>
                <a:cs typeface="Times New Roman" panose="02020603050405020304" pitchFamily="18" charset="0"/>
              </a:rPr>
              <a:t> Django, </a:t>
            </a:r>
            <a:r>
              <a:rPr lang="en-US" sz="2400" dirty="0" err="1">
                <a:latin typeface="Times New Roman" panose="02020603050405020304" pitchFamily="18" charset="0"/>
                <a:cs typeface="Times New Roman" panose="02020603050405020304" pitchFamily="18" charset="0"/>
              </a:rPr>
              <a:t>smtplib</a:t>
            </a:r>
            <a:r>
              <a:rPr lang="en-US" sz="2000" dirty="0">
                <a:latin typeface="Times New Roman" panose="02020603050405020304" pitchFamily="18" charset="0"/>
                <a:cs typeface="Times New Roman" panose="02020603050405020304" pitchFamily="18" charset="0"/>
              </a:rPr>
              <a:t>, </a:t>
            </a:r>
            <a:endParaRPr lang="en-US" altLang="en-GB"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US" altLang="en-GB" sz="2400" dirty="0">
                <a:latin typeface="Times New Roman" panose="02020603050405020304" charset="0"/>
                <a:cs typeface="Times New Roman" panose="02020603050405020304" charset="0"/>
              </a:rPr>
              <a:t>IDE                                          </a:t>
            </a:r>
            <a:r>
              <a:rPr lang="en-US" altLang="en-GB" sz="2400" b="1" dirty="0">
                <a:latin typeface="Times New Roman" panose="02020603050405020304" charset="0"/>
                <a:cs typeface="Times New Roman" panose="02020603050405020304" charset="0"/>
              </a:rPr>
              <a:t>:</a:t>
            </a:r>
            <a:r>
              <a:rPr lang="en-US" altLang="en-GB" sz="2400" dirty="0">
                <a:latin typeface="Times New Roman" panose="02020603050405020304" charset="0"/>
                <a:cs typeface="Times New Roman" panose="02020603050405020304" charset="0"/>
              </a:rPr>
              <a:t> PyCharm, VS Code, or </a:t>
            </a:r>
            <a:r>
              <a:rPr lang="en-US" altLang="en-GB" sz="2400" dirty="0" err="1">
                <a:latin typeface="Times New Roman" panose="02020603050405020304" charset="0"/>
                <a:cs typeface="Times New Roman" panose="02020603050405020304" charset="0"/>
              </a:rPr>
              <a:t>Jupyter</a:t>
            </a:r>
            <a:r>
              <a:rPr lang="en-US" altLang="en-GB" sz="2400" dirty="0">
                <a:latin typeface="Times New Roman" panose="02020603050405020304" charset="0"/>
                <a:cs typeface="Times New Roman" panose="02020603050405020304" charset="0"/>
              </a:rPr>
              <a:t> Notebook</a:t>
            </a:r>
          </a:p>
        </p:txBody>
      </p:sp>
      <p:sp>
        <p:nvSpPr>
          <p:cNvPr id="4" name="Title 1">
            <a:extLst>
              <a:ext uri="{FF2B5EF4-FFF2-40B4-BE49-F238E27FC236}">
                <a16:creationId xmlns:a16="http://schemas.microsoft.com/office/drawing/2014/main" id="{1782271F-0C3F-4A72-98B8-8D1068CE4AFB}"/>
              </a:ext>
            </a:extLst>
          </p:cNvPr>
          <p:cNvSpPr txBox="1">
            <a:spLocks/>
          </p:cNvSpPr>
          <p:nvPr/>
        </p:nvSpPr>
        <p:spPr>
          <a:xfrm>
            <a:off x="609600" y="190500"/>
            <a:ext cx="10972800" cy="582613"/>
          </a:xfrm>
          <a:prstGeom prst="rect">
            <a:avLst/>
          </a:prstGeom>
          <a:noFill/>
          <a:ln w="9525">
            <a:noFill/>
          </a:ln>
        </p:spPr>
        <p:txBody>
          <a:bodyPr anchor="ctr" anchorCtr="0"/>
          <a:lst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pPr defTabSz="914400"/>
            <a:r>
              <a:rPr lang="en-US" altLang="en-GB">
                <a:latin typeface="Times New Roman" panose="02020603050405020304" charset="0"/>
                <a:cs typeface="Times New Roman" panose="02020603050405020304" charset="0"/>
              </a:rPr>
              <a:t>SOFTWARE REQUIREMENT</a:t>
            </a:r>
            <a:endParaRPr lang="en-US" altLang="en-GB" dirty="0">
              <a:latin typeface="Times New Roman" panose="02020603050405020304" charset="0"/>
              <a:cs typeface="Times New Roman" panose="02020603050405020304" charset="0"/>
            </a:endParaRPr>
          </a:p>
        </p:txBody>
      </p:sp>
    </p:spTree>
    <p:extLst>
      <p:ext uri="{BB962C8B-B14F-4D97-AF65-F5344CB8AC3E}">
        <p14:creationId xmlns:p14="http://schemas.microsoft.com/office/powerpoint/2010/main" val="35801691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5ADAE-52F8-4E8E-AA5F-FD83C5BBD6B5}"/>
              </a:ext>
            </a:extLst>
          </p:cNvPr>
          <p:cNvSpPr txBox="1">
            <a:spLocks/>
          </p:cNvSpPr>
          <p:nvPr/>
        </p:nvSpPr>
        <p:spPr>
          <a:xfrm>
            <a:off x="609600" y="274638"/>
            <a:ext cx="10972800" cy="1143000"/>
          </a:xfrm>
          <a:prstGeom prst="rect">
            <a:avLst/>
          </a:prstGeom>
        </p:spPr>
        <p:txBody>
          <a:bodyPr/>
          <a:lst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pPr defTabSz="914400"/>
            <a:r>
              <a:rPr lang="en-US" altLang="en-GB" b="1">
                <a:latin typeface="Times New Roman" panose="02020603050405020304" charset="0"/>
                <a:cs typeface="Times New Roman" panose="02020603050405020304" charset="0"/>
              </a:rPr>
              <a:t>HARDWARE REQUIREMENT</a:t>
            </a:r>
          </a:p>
        </p:txBody>
      </p:sp>
      <p:sp>
        <p:nvSpPr>
          <p:cNvPr id="3" name="Content Placeholder 2">
            <a:extLst>
              <a:ext uri="{FF2B5EF4-FFF2-40B4-BE49-F238E27FC236}">
                <a16:creationId xmlns:a16="http://schemas.microsoft.com/office/drawing/2014/main" id="{B68BC5D7-34D2-4C6A-9C43-0E869D9A3967}"/>
              </a:ext>
            </a:extLst>
          </p:cNvPr>
          <p:cNvSpPr txBox="1">
            <a:spLocks/>
          </p:cNvSpPr>
          <p:nvPr/>
        </p:nvSpPr>
        <p:spPr>
          <a:xfrm>
            <a:off x="609600" y="1600200"/>
            <a:ext cx="10972800" cy="4525963"/>
          </a:xfrm>
          <a:prstGeom prst="rect">
            <a:avLst/>
          </a:prstGeom>
        </p:spPr>
        <p:txBody>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400">
              <a:lnSpc>
                <a:spcPct val="150000"/>
              </a:lnSpc>
            </a:pPr>
            <a:r>
              <a:rPr lang="en-US" sz="2400" dirty="0">
                <a:latin typeface="Times New Roman" panose="02020603050405020304" charset="0"/>
                <a:cs typeface="Times New Roman" panose="02020603050405020304" charset="0"/>
                <a:sym typeface="+mn-ea"/>
              </a:rPr>
              <a:t>System                          :         Pentium IV 2.4 GHz.</a:t>
            </a:r>
            <a:endParaRPr lang="en-US" sz="2400" dirty="0">
              <a:latin typeface="Times New Roman" panose="02020603050405020304" charset="0"/>
              <a:cs typeface="Times New Roman" panose="02020603050405020304" charset="0"/>
            </a:endParaRPr>
          </a:p>
          <a:p>
            <a:pPr defTabSz="914400">
              <a:lnSpc>
                <a:spcPct val="150000"/>
              </a:lnSpc>
            </a:pPr>
            <a:r>
              <a:rPr lang="en-US" sz="2400" dirty="0">
                <a:latin typeface="Times New Roman" panose="02020603050405020304" charset="0"/>
                <a:cs typeface="Times New Roman" panose="02020603050405020304" charset="0"/>
                <a:sym typeface="+mn-ea"/>
              </a:rPr>
              <a:t>Hard Disk                      :         250 GB</a:t>
            </a:r>
            <a:endParaRPr lang="en-US" sz="2400" dirty="0">
              <a:latin typeface="Times New Roman" panose="02020603050405020304" charset="0"/>
              <a:cs typeface="Times New Roman" panose="02020603050405020304" charset="0"/>
            </a:endParaRPr>
          </a:p>
          <a:p>
            <a:pPr defTabSz="914400">
              <a:lnSpc>
                <a:spcPct val="150000"/>
              </a:lnSpc>
            </a:pPr>
            <a:r>
              <a:rPr lang="en-US" sz="2400" dirty="0">
                <a:latin typeface="Times New Roman" panose="02020603050405020304" charset="0"/>
                <a:cs typeface="Times New Roman" panose="02020603050405020304" charset="0"/>
                <a:sym typeface="+mn-ea"/>
              </a:rPr>
              <a:t>Floppy Drive                 :         1.44 Mb.</a:t>
            </a:r>
            <a:endParaRPr lang="en-US" sz="2400" dirty="0">
              <a:latin typeface="Times New Roman" panose="02020603050405020304" charset="0"/>
              <a:cs typeface="Times New Roman" panose="02020603050405020304" charset="0"/>
            </a:endParaRPr>
          </a:p>
          <a:p>
            <a:pPr defTabSz="914400">
              <a:lnSpc>
                <a:spcPct val="150000"/>
              </a:lnSpc>
            </a:pPr>
            <a:r>
              <a:rPr lang="en-US" sz="2400" dirty="0">
                <a:latin typeface="Times New Roman" panose="02020603050405020304" charset="0"/>
                <a:cs typeface="Times New Roman" panose="02020603050405020304" charset="0"/>
                <a:sym typeface="+mn-ea"/>
              </a:rPr>
              <a:t>Monitor                         :         15 VGA Color.</a:t>
            </a:r>
            <a:endParaRPr lang="en-US" sz="2400" dirty="0">
              <a:latin typeface="Times New Roman" panose="02020603050405020304" charset="0"/>
              <a:cs typeface="Times New Roman" panose="02020603050405020304" charset="0"/>
            </a:endParaRPr>
          </a:p>
          <a:p>
            <a:pPr defTabSz="914400">
              <a:lnSpc>
                <a:spcPct val="150000"/>
              </a:lnSpc>
            </a:pPr>
            <a:r>
              <a:rPr lang="en-US" sz="2400" dirty="0">
                <a:latin typeface="Times New Roman" panose="02020603050405020304" charset="0"/>
                <a:cs typeface="Times New Roman" panose="02020603050405020304" charset="0"/>
                <a:sym typeface="+mn-ea"/>
              </a:rPr>
              <a:t>Mouse                            :         Logitech.</a:t>
            </a:r>
            <a:endParaRPr lang="en-US" sz="2400" dirty="0">
              <a:latin typeface="Times New Roman" panose="02020603050405020304" charset="0"/>
              <a:cs typeface="Times New Roman" panose="02020603050405020304" charset="0"/>
            </a:endParaRPr>
          </a:p>
          <a:p>
            <a:pPr defTabSz="914400">
              <a:lnSpc>
                <a:spcPct val="150000"/>
              </a:lnSpc>
            </a:pPr>
            <a:r>
              <a:rPr lang="en-US" sz="2400" dirty="0">
                <a:latin typeface="Times New Roman" panose="02020603050405020304" charset="0"/>
                <a:cs typeface="Times New Roman" panose="02020603050405020304" charset="0"/>
                <a:sym typeface="+mn-ea"/>
              </a:rPr>
              <a:t>Ram     : 4 GB</a:t>
            </a:r>
            <a:endParaRPr lang="en-US" sz="2400" dirty="0">
              <a:latin typeface="Times New Roman" panose="02020603050405020304" charset="0"/>
              <a:cs typeface="Times New Roman" panose="02020603050405020304" charset="0"/>
            </a:endParaRPr>
          </a:p>
          <a:p>
            <a:pPr algn="just" defTabSz="914400">
              <a:lnSpc>
                <a:spcPct val="150000"/>
              </a:lnSpc>
            </a:pPr>
            <a:endParaRPr lang="en-GB" altLang="en-US" sz="2400" dirty="0">
              <a:latin typeface="Times New Roman" panose="02020603050405020304" charset="0"/>
              <a:cs typeface="Times New Roman" panose="02020603050405020304" charset="0"/>
            </a:endParaRPr>
          </a:p>
        </p:txBody>
      </p:sp>
    </p:spTree>
    <p:extLst>
      <p:ext uri="{BB962C8B-B14F-4D97-AF65-F5344CB8AC3E}">
        <p14:creationId xmlns:p14="http://schemas.microsoft.com/office/powerpoint/2010/main" val="36952846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B894952-427C-4BD5-A4BF-7A567BCCA9DD}"/>
              </a:ext>
            </a:extLst>
          </p:cNvPr>
          <p:cNvSpPr>
            <a:spLocks noChangeArrowheads="1"/>
          </p:cNvSpPr>
          <p:nvPr/>
        </p:nvSpPr>
        <p:spPr bwMode="auto">
          <a:xfrm>
            <a:off x="327212" y="1333009"/>
            <a:ext cx="11725835" cy="4191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Attendance System using Face Recognition addresses a critical need for automation in identity verification and attendance management. By integrating computer vision, machine learning, and web technologies, the system offers a secure, accurate, and efficient method to track attendance without the need for manual intervention. Its user-friendly interface, real-time feedback, and robust backend make it suitable for academic institutions, corporate offices, and any environment where presence needs to be verified regularly. Through this project, we not only eliminate common issues like buddy punching and lost ID cards but also set the foundation for future enhancements including mobile integration, cloud synchronization, and advanced analytics. Moving forward, additional features like spoof detection, temperature screening, and voice alerts can be added to improve system robustness and utility.</a:t>
            </a:r>
          </a:p>
        </p:txBody>
      </p:sp>
      <p:sp>
        <p:nvSpPr>
          <p:cNvPr id="3" name="Title 1">
            <a:extLst>
              <a:ext uri="{FF2B5EF4-FFF2-40B4-BE49-F238E27FC236}">
                <a16:creationId xmlns:a16="http://schemas.microsoft.com/office/drawing/2014/main" id="{500BFFF4-566E-4D94-B390-9365D4E62140}"/>
              </a:ext>
            </a:extLst>
          </p:cNvPr>
          <p:cNvSpPr txBox="1">
            <a:spLocks/>
          </p:cNvSpPr>
          <p:nvPr/>
        </p:nvSpPr>
        <p:spPr>
          <a:xfrm>
            <a:off x="609600" y="419100"/>
            <a:ext cx="4621306" cy="582613"/>
          </a:xfrm>
          <a:prstGeom prst="rect">
            <a:avLst/>
          </a:prstGeom>
        </p:spPr>
        <p:txBody>
          <a:bodyPr/>
          <a:lst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pPr defTabSz="914400"/>
            <a:r>
              <a:rPr lang="en-US" altLang="en-GB" b="1" dirty="0">
                <a:latin typeface="Times New Roman" panose="02020603050405020304" charset="0"/>
                <a:cs typeface="Times New Roman" panose="02020603050405020304" charset="0"/>
                <a:sym typeface="+mn-ea"/>
              </a:rPr>
              <a:t>CONCLUSION</a:t>
            </a:r>
            <a:endParaRPr lang="en-GB" altLang="en-US" dirty="0">
              <a:latin typeface="Times New Roman" panose="02020603050405020304" charset="0"/>
              <a:cs typeface="Times New Roman" panose="02020603050405020304" charset="0"/>
            </a:endParaRPr>
          </a:p>
        </p:txBody>
      </p:sp>
    </p:spTree>
    <p:extLst>
      <p:ext uri="{BB962C8B-B14F-4D97-AF65-F5344CB8AC3E}">
        <p14:creationId xmlns:p14="http://schemas.microsoft.com/office/powerpoint/2010/main" val="19868175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TotalTime>
  <Words>1527</Words>
  <Application>Microsoft Office PowerPoint</Application>
  <PresentationFormat>Widescreen</PresentationFormat>
  <Paragraphs>57</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c:creator>
  <cp:lastModifiedBy>AravinthSamy S</cp:lastModifiedBy>
  <cp:revision>3</cp:revision>
  <dcterms:created xsi:type="dcterms:W3CDTF">2026-01-23T03:50:47Z</dcterms:created>
  <dcterms:modified xsi:type="dcterms:W3CDTF">2026-01-23T04:16:38Z</dcterms:modified>
</cp:coreProperties>
</file>